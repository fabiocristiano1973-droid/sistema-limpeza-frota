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km/L real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E276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CONQUISTA</c:v>
                  </c:pt>
                  <c:pt idx="1">
                    <c:v>ILHÉUS</c:v>
                  </c:pt>
                  <c:pt idx="2">
                    <c:v>ITABUNA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2.6</c:v>
                </c:pt>
                <c:pt idx="1">
                  <c:v>2.92</c:v>
                </c:pt>
                <c:pt idx="2">
                  <c:v>3.03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300" u="none">
                  <a:solidFill>
                    <a:srgbClr val="1E276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B1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5E7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km/L</a:t>
                </a:r>
              </a:p>
            </c:rich>
          </c:tx>
          <c:layout/>
          <c:overlay val="0"/>
        </c:title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Veículos</c:v>
                </c:pt>
              </c:strCache>
            </c:strRef>
          </c:tx>
          <c:spPr>
            <a:solidFill>
              <a:srgbClr val="0CA3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B1B1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CA30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97A0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67E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22B21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Reporte contínuo</c:v>
                  </c:pt>
                  <c:pt idx="1">
                    <c:v>Retomado</c:v>
                  </c:pt>
                  <c:pt idx="2">
                    <c:v>Intermitente</c:v>
                  </c:pt>
                  <c:pt idx="3">
                    <c:v>Deixou de reportar</c:v>
                  </c:pt>
                  <c:pt idx="4">
                    <c:v>Sem reporte (total)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52</c:v>
                </c:pt>
                <c:pt idx="1">
                  <c:v>12</c:v>
                </c:pt>
                <c:pt idx="2">
                  <c:v>1</c:v>
                </c:pt>
                <c:pt idx="3">
                  <c:v>4</c:v>
                </c:pt>
                <c:pt idx="4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1B1B1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1B1B1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-2011680"/>
            <a:ext cx="6400800" cy="6400800"/>
          </a:xfrm>
          <a:prstGeom prst="ellipse">
            <a:avLst/>
          </a:prstGeom>
          <a:solidFill>
            <a:srgbClr val="141B4D"/>
          </a:solidFill>
          <a:ln/>
        </p:spPr>
      </p:sp>
      <p:sp>
        <p:nvSpPr>
          <p:cNvPr id="4" name="Shape 2"/>
          <p:cNvSpPr/>
          <p:nvPr/>
        </p:nvSpPr>
        <p:spPr>
          <a:xfrm>
            <a:off x="10424160" y="4206240"/>
            <a:ext cx="3840480" cy="3840480"/>
          </a:xfrm>
          <a:prstGeom prst="ellipse">
            <a:avLst/>
          </a:prstGeom>
          <a:solidFill>
            <a:srgbClr val="141B4D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DE FROTA · TELEMETRIA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1828800"/>
            <a:ext cx="8686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Gestão de Média de</a:t>
            </a:r>
            <a:endParaRPr lang="en-US" sz="44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Combustível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22960" y="3977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Transportes — Itabuna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Boletim de telemetria: 08/09/2026 a 14/09/2026  ·  Apresentação executiva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3A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Transportes · Itabuna — Gestão de Média de Combustível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98855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Contexto e objetivo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foi analisado e por quê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527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 de dados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749040" y="15087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Boletim diário de telemetria (média de consumo, distância, litros) cruzado com o cadastro oficial de frota (Base_Frota).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560320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4871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749040" y="24688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08/09/2026 a 14/09/2026 — confirmado pelas datas dos registros, sem divergência.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520440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4472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 de km/L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74904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Sempre km totais ÷ litros totais nos dias com reporte — nunca a média das médias diárias.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480560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4074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749040" y="43891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 eficiência real, identificar oportunidades de economia e auditar a continuidade do reporte de telemetria.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53212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DEDEA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62356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Achado de governança de dados:  </a:t>
            </a:r>
            <a:pPr indent="0" marL="0">
              <a:buNone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cadastro oficial (Base_Frota) cobre apenas 29% dos 271 veículos que efetivamente rodaram na semana sob a mesma operação. Os demais 192 veículos ficam fora de qualquer gestão de eficiência até o cadastro ser atualizado.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Transportes · Itabuna — Gestão de Média de Combustível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98855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frota em números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consolidados do período — veículos válidos (Base_Frota)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66160" cy="1828800"/>
          </a:xfrm>
          <a:prstGeom prst="roundRect">
            <a:avLst>
              <a:gd name="adj" fmla="val 5000"/>
            </a:avLst>
          </a:prstGeom>
          <a:solidFill>
            <a:srgbClr val="141B4D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965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 rodados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77240" y="22860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88.056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3108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 com reporte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1783080"/>
            <a:ext cx="3566160" cy="1828800"/>
          </a:xfrm>
          <a:prstGeom prst="roundRect">
            <a:avLst>
              <a:gd name="adj" fmla="val 5000"/>
            </a:avLst>
          </a:prstGeom>
          <a:solidFill>
            <a:srgbClr val="141B4D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1965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Litros consumidos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72000" y="22860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29.872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72000" y="3108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telemetria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38160" y="1783080"/>
            <a:ext cx="3566160" cy="1828800"/>
          </a:xfrm>
          <a:prstGeom prst="roundRect">
            <a:avLst>
              <a:gd name="adj" fmla="val 5000"/>
            </a:avLst>
          </a:prstGeom>
          <a:solidFill>
            <a:srgbClr val="141B4D"/>
          </a:solidFill>
          <a:ln/>
        </p:spPr>
      </p:sp>
      <p:sp>
        <p:nvSpPr>
          <p:cNvPr id="13" name="Text 11"/>
          <p:cNvSpPr/>
          <p:nvPr/>
        </p:nvSpPr>
        <p:spPr>
          <a:xfrm>
            <a:off x="8366760" y="1965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Km/L real da frota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366760" y="22860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2,95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366760" y="3108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 ÷ litros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3566160" cy="1828800"/>
          </a:xfrm>
          <a:prstGeom prst="roundRect">
            <a:avLst>
              <a:gd name="adj" fmla="val 5000"/>
            </a:avLst>
          </a:prstGeom>
          <a:solidFill>
            <a:srgbClr val="141B4D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023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total (ref.)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77240" y="43434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R$ 179.232,72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777240" y="5166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R$ 6,00/L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43400" y="3840480"/>
            <a:ext cx="3566160" cy="1828800"/>
          </a:xfrm>
          <a:prstGeom prst="roundRect">
            <a:avLst>
              <a:gd name="adj" fmla="val 5000"/>
            </a:avLst>
          </a:prstGeom>
          <a:solidFill>
            <a:srgbClr val="141B4D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0" y="4023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 potencial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572000" y="43434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R$ 14.866,20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4572000" y="5166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2.478 L estimados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38160" y="3840480"/>
            <a:ext cx="3566160" cy="1828800"/>
          </a:xfrm>
          <a:prstGeom prst="roundRect">
            <a:avLst>
              <a:gd name="adj" fmla="val 5000"/>
            </a:avLst>
          </a:prstGeom>
          <a:solidFill>
            <a:srgbClr val="141B4D"/>
          </a:solidFill>
          <a:ln/>
        </p:spPr>
      </p:sp>
      <p:sp>
        <p:nvSpPr>
          <p:cNvPr id="25" name="Text 23"/>
          <p:cNvSpPr/>
          <p:nvPr/>
        </p:nvSpPr>
        <p:spPr>
          <a:xfrm>
            <a:off x="8366760" y="4023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reporte / pararam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366760" y="43434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8366760" y="5166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79 veículos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3A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Transportes · Itabuna — Gestão de Média de Combustível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98855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km/L real por Unidade Operacional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Comparação entre grupos operacionais equivalentes (km ÷ litros)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00200"/>
          <a:ext cx="667512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635240" y="1600200"/>
            <a:ext cx="3977640" cy="4480560"/>
          </a:xfrm>
          <a:prstGeom prst="roundRect">
            <a:avLst>
              <a:gd name="adj" fmla="val 2299"/>
            </a:avLst>
          </a:prstGeom>
          <a:solidFill>
            <a:srgbClr val="F3F5FB"/>
          </a:solidFill>
          <a:ln/>
        </p:spPr>
      </p:sp>
      <p:sp>
        <p:nvSpPr>
          <p:cNvPr id="6" name="Text 3"/>
          <p:cNvSpPr/>
          <p:nvPr/>
        </p:nvSpPr>
        <p:spPr>
          <a:xfrm>
            <a:off x="7909560" y="17830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909560" y="224028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 km/L: ITABUNA (3.03 km/L).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09560" y="32918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km/L: CONQUISTA (2.60 km/L) — investigar se reflete perfil de rota (relevo/trânsito) antes de comparar como "pior desempenho".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909560" y="43434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 por Modelo × Unidade são sugestões iniciais (mediana do próprio grupo) — ver planilha, aba Metas.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Transportes · Itabuna — Gestão de Média de Combustível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98855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Continuidade do reporte de telemetria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dos veículos válidos pela sequência de reportes de média na semana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00200"/>
          <a:ext cx="69494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818120" y="1600200"/>
            <a:ext cx="3794760" cy="4480560"/>
          </a:xfrm>
          <a:prstGeom prst="roundRect">
            <a:avLst>
              <a:gd name="adj" fmla="val 2410"/>
            </a:avLst>
          </a:prstGeom>
          <a:solidFill>
            <a:srgbClr val="FDEDEA"/>
          </a:solidFill>
          <a:ln/>
        </p:spPr>
      </p:sp>
      <p:sp>
        <p:nvSpPr>
          <p:cNvPr id="6" name="Text 3"/>
          <p:cNvSpPr/>
          <p:nvPr/>
        </p:nvSpPr>
        <p:spPr>
          <a:xfrm>
            <a:off x="8092440" y="17830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Prioridade de verificação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092440" y="214884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veículos pararam de reportar e seguem sem dado até o fim do período. 10 não reportaram a semana inteira, alguns rodando mais de 2.000 km sem qualquer dado de consumo.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53949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"–" = telemetria não importou a média · qualquer número, inclusive 0,00, conta como reporte.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Transportes · Itabuna — Gestão de Média de Combustível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98855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Ranking de oportunidades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Veículos prioritários — maior risco/economia potencial estimada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3566160"/>
        </p:xfrm>
        <a:graphic>
          <a:graphicData uri="http://schemas.openxmlformats.org/drawingml/2006/table">
            <a:tbl>
              <a:tblPr/>
              <a:tblGrid>
                <a:gridCol w="1554480"/>
                <a:gridCol w="1737360"/>
                <a:gridCol w="4206240"/>
                <a:gridCol w="1828800"/>
                <a:gridCol w="1737360"/>
              </a:tblGrid>
              <a:tr h="5094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Prefixo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Placa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Classificação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Km sem reporte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Último registro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R10175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OZG5113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</a:rPr>
                        <a:t>Deixou de reportar</a:t>
                      </a:r>
                      <a:endParaRPr lang="en-US" sz="115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0,0 km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2026-09-14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R10185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OZG6088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</a:rPr>
                        <a:t>Deixou de reportar</a:t>
                      </a:r>
                      <a:endParaRPr lang="en-US" sz="115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0,0 km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2026-09-14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R7545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OZT9896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</a:rPr>
                        <a:t>Deixou de reportar</a:t>
                      </a:r>
                      <a:endParaRPr lang="en-US" sz="115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0,0 km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2026-09-14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R7555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OZT8368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</a:rPr>
                        <a:t>Deixou de reportar</a:t>
                      </a:r>
                      <a:endParaRPr lang="en-US" sz="115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0,0 km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2026-09-13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R7565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OZT0656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</a:rPr>
                        <a:t>Sem reporte em todo o período observado</a:t>
                      </a:r>
                      <a:endParaRPr lang="en-US" sz="115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2.893,8 km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2026-09-14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R6815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NZO9187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</a:rPr>
                        <a:t>Sem reporte em todo o período observado</a:t>
                      </a:r>
                      <a:endParaRPr lang="en-US" sz="115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2.397,5 km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2026-09-14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48640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3F5FB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55778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completa (79 veículos, com km/L, meta, desvio e economia) disponível na planilha — aba Analise_Consumo — e no painel HTML interativo.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Transportes · Itabuna — Gestão de Média de Combustível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98855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ACHADO DESTACADO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77240" y="1188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Consumo de combustível sem quilometragem registrada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26060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141B4D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2743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Veículo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51560" y="30175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R7045 / OUO0218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51560" y="35661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dias, MBB — Conquista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06240" y="26060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141B4D"/>
          </a:solidFill>
          <a:ln/>
        </p:spPr>
      </p:sp>
      <p:sp>
        <p:nvSpPr>
          <p:cNvPr id="10" name="Text 8"/>
          <p:cNvSpPr/>
          <p:nvPr/>
        </p:nvSpPr>
        <p:spPr>
          <a:xfrm>
            <a:off x="4434840" y="2743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Distância / Km-L reportados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434840" y="30175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 km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434840" y="35661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 Km/L em todos os 7 dias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589520" y="2606040"/>
            <a:ext cx="3749040" cy="1554480"/>
          </a:xfrm>
          <a:prstGeom prst="roundRect">
            <a:avLst>
              <a:gd name="adj" fmla="val 5882"/>
            </a:avLst>
          </a:prstGeom>
          <a:solidFill>
            <a:srgbClr val="C0392B"/>
          </a:solidFill>
          <a:ln/>
        </p:spPr>
      </p:sp>
      <p:sp>
        <p:nvSpPr>
          <p:cNvPr id="14" name="Text 12"/>
          <p:cNvSpPr/>
          <p:nvPr/>
        </p:nvSpPr>
        <p:spPr>
          <a:xfrm>
            <a:off x="7818120" y="27432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D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Litros consumidos (telemetria)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818120" y="30175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856,5 L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7818120" y="3566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D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semana — fisicamente incompatível com 0 km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22960" y="448056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D6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Leitura: sugere falha do sensor de distância/GPS, ou consumo de uma operação não capturada pelo hodômetro (ex.: geração auxiliar). Nenhuma causa mecânica foi confirmada — recomenda-se verificação em campo antes de qualquer ação ou penalização.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3A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Transportes · Itabuna — Gestão de Média de Combustível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98855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Recomendações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 sugeridas, por ordem de prioridade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0680" cy="1417320"/>
          </a:xfrm>
          <a:prstGeom prst="roundRect">
            <a:avLst>
              <a:gd name="adj" fmla="val 5806"/>
            </a:avLst>
          </a:prstGeom>
          <a:solidFill>
            <a:srgbClr val="F3F5FB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892808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1837944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Atualizar a Base_Frota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2203704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Cadastrar (ou excluir formalmente) os 192 veículos que rodam fora dela hoje — 71% da operação real fica fora da gestão.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691640"/>
            <a:ext cx="5440680" cy="1417320"/>
          </a:xfrm>
          <a:prstGeom prst="roundRect">
            <a:avLst>
              <a:gd name="adj" fmla="val 5806"/>
            </a:avLst>
          </a:prstGeom>
          <a:solidFill>
            <a:srgbClr val="F3F5FB"/>
          </a:solidFill>
          <a:ln/>
        </p:spPr>
      </p:sp>
      <p:sp>
        <p:nvSpPr>
          <p:cNvPr id="10" name="Shape 8"/>
          <p:cNvSpPr/>
          <p:nvPr/>
        </p:nvSpPr>
        <p:spPr>
          <a:xfrm>
            <a:off x="6464808" y="1892808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464808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86600" y="1837944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veículos sem reporte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086600" y="2203704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Priorizar os que "deixaram de reportar" e os que rodaram &gt;1.000 km sem nenhum dado de consumo na semana.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383280"/>
            <a:ext cx="5440680" cy="1417320"/>
          </a:xfrm>
          <a:prstGeom prst="roundRect">
            <a:avLst>
              <a:gd name="adj" fmla="val 5806"/>
            </a:avLst>
          </a:prstGeom>
          <a:solidFill>
            <a:srgbClr val="F3F5FB"/>
          </a:solidFill>
          <a:ln/>
        </p:spPr>
      </p:sp>
      <p:sp>
        <p:nvSpPr>
          <p:cNvPr id="15" name="Shape 13"/>
          <p:cNvSpPr/>
          <p:nvPr/>
        </p:nvSpPr>
        <p:spPr>
          <a:xfrm>
            <a:off x="749808" y="3584448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71600" y="3529584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Corrigir cadastro de placas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371600" y="3895344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 a placa do prefixo R7085 (corrompida) e investigar a divergência de placas do prefixo R6755.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63640" y="3383280"/>
            <a:ext cx="5440680" cy="1417320"/>
          </a:xfrm>
          <a:prstGeom prst="roundRect">
            <a:avLst>
              <a:gd name="adj" fmla="val 5806"/>
            </a:avLst>
          </a:prstGeom>
          <a:solidFill>
            <a:srgbClr val="F3F5FB"/>
          </a:solidFill>
          <a:ln/>
        </p:spPr>
      </p:sp>
      <p:sp>
        <p:nvSpPr>
          <p:cNvPr id="20" name="Shape 18"/>
          <p:cNvSpPr/>
          <p:nvPr/>
        </p:nvSpPr>
        <p:spPr>
          <a:xfrm>
            <a:off x="6464808" y="3584448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6464808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086600" y="3529584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Inspecionar sensor do R7045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086600" y="3895344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 relevante registrado com 0 km e 0,00 Km/L o período inteiro — checar hodômetro/GPS antes de qualquer conclusão.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5074920"/>
            <a:ext cx="5440680" cy="1417320"/>
          </a:xfrm>
          <a:prstGeom prst="roundRect">
            <a:avLst>
              <a:gd name="adj" fmla="val 5806"/>
            </a:avLst>
          </a:prstGeom>
          <a:solidFill>
            <a:srgbClr val="F3F5FB"/>
          </a:solidFill>
          <a:ln/>
        </p:spPr>
      </p:sp>
      <p:sp>
        <p:nvSpPr>
          <p:cNvPr id="25" name="Shape 23"/>
          <p:cNvSpPr/>
          <p:nvPr/>
        </p:nvSpPr>
        <p:spPr>
          <a:xfrm>
            <a:off x="749808" y="5276088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/>
          <p:nvPr/>
        </p:nvSpPr>
        <p:spPr>
          <a:xfrm>
            <a:off x="749808" y="5276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371600" y="5221224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metas e preço oficiais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371600" y="5586984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Substituir a meta sugerida (mediana) e o preço de referência do diesel pelos valores oficiais na aba Metas.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263640" y="5074920"/>
            <a:ext cx="5440680" cy="1417320"/>
          </a:xfrm>
          <a:prstGeom prst="roundRect">
            <a:avLst>
              <a:gd name="adj" fmla="val 5806"/>
            </a:avLst>
          </a:prstGeom>
          <a:solidFill>
            <a:srgbClr val="F3F5FB"/>
          </a:solidFill>
          <a:ln/>
        </p:spPr>
      </p:sp>
      <p:sp>
        <p:nvSpPr>
          <p:cNvPr id="30" name="Shape 28"/>
          <p:cNvSpPr/>
          <p:nvPr/>
        </p:nvSpPr>
        <p:spPr>
          <a:xfrm>
            <a:off x="6464808" y="5276088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1" name="Text 29"/>
          <p:cNvSpPr/>
          <p:nvPr/>
        </p:nvSpPr>
        <p:spPr>
          <a:xfrm>
            <a:off x="6464808" y="5276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086600" y="5221224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Repetir a análise semanalmente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086600" y="5586984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Acompanhar tendência e medir o efeito das ações corretivas com o mesmo painel e planilha.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Transportes · Itabuna — Gestão de Média de Combustível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98855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3840480"/>
            <a:ext cx="5486400" cy="5486400"/>
          </a:xfrm>
          <a:prstGeom prst="ellipse">
            <a:avLst/>
          </a:prstGeom>
          <a:solidFill>
            <a:srgbClr val="141B4D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0972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manter isto atualizado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2103120"/>
            <a:ext cx="384048" cy="384048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205740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6EC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Exportar o novo boletim semanal de telemetria no mesmo formato (colunas e nomes de aba).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822960" y="2880360"/>
            <a:ext cx="384048" cy="384048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83464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6EC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Colar os dados na aba do boletim da planilha — as fórmulas de km/L, custo e economia recalculam automaticamente.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22960" y="3657600"/>
            <a:ext cx="384048" cy="384048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657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61188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6EC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a aba Metas (preço do diesel e metas por modelo/operação) a cada período.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822960" y="4434840"/>
            <a:ext cx="384048" cy="384048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438912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6EC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Reabrir o painel HTML (mesma pasta) para visualizar filtros, mapa de calor e ranking atualizados.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22960" y="5943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FB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 potencial é sempre uma estimativa. Nenhuma causa mecânica ou responsabilidade de motorista foi atribuída nesta análise.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3A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Transportes · Itabuna — Gestão de Média de Combustível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98855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2026-09-16T19:34:30Z</dcterms:created>
  <dcterms:modified xsi:type="dcterms:W3CDTF">2026-09-16T19:34:30Z</dcterms:modified>
</cp:coreProperties>
</file>